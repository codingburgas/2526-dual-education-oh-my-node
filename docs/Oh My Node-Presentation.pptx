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8"/>
  </p:notesMasterIdLst>
  <p:sldIdLst>
    <p:sldId id="279" r:id="rId2"/>
    <p:sldId id="256" r:id="rId3"/>
    <p:sldId id="280" r:id="rId4"/>
    <p:sldId id="261" r:id="rId5"/>
    <p:sldId id="281" r:id="rId6"/>
    <p:sldId id="282" r:id="rId7"/>
  </p:sldIdLst>
  <p:sldSz cx="9144000" cy="5143500" type="screen16x9"/>
  <p:notesSz cx="6858000" cy="9144000"/>
  <p:embeddedFontLst>
    <p:embeddedFont>
      <p:font typeface="League Spartan" panose="020B0604020202020204" charset="0"/>
      <p:regular r:id="rId9"/>
      <p:bold r:id="rId10"/>
    </p:embeddedFont>
    <p:embeddedFont>
      <p:font typeface="Be Vietnam Pro Thin" panose="020B0604020202020204" charset="0"/>
      <p:regular r:id="rId11"/>
      <p:bold r:id="rId12"/>
      <p:italic r:id="rId13"/>
      <p:boldItalic r:id="rId14"/>
    </p:embeddedFont>
    <p:embeddedFont>
      <p:font typeface="Raleway" panose="020B0604020202020204" charset="-52"/>
      <p:regular r:id="rId15"/>
      <p:bold r:id="rId16"/>
      <p:italic r:id="rId17"/>
      <p:boldItalic r:id="rId18"/>
    </p:embeddedFont>
    <p:embeddedFont>
      <p:font typeface="Be Vietnam Pro" panose="020B0604020202020204" charset="0"/>
      <p:regular r:id="rId19"/>
      <p:bold r:id="rId20"/>
      <p:italic r:id="rId21"/>
      <p:boldItalic r:id="rId22"/>
    </p:embeddedFont>
    <p:embeddedFont>
      <p:font typeface="Be Vietnam Pro Medium" panose="020B0604020202020204" charset="0"/>
      <p:regular r:id="rId23"/>
      <p:bold r:id="rId24"/>
      <p:italic r:id="rId25"/>
      <p:boldItalic r:id="rId26"/>
    </p:embeddedFon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352054-ACFC-4734-883B-ECFAED71D02E}">
  <a:tblStyle styleId="{D5352054-ACFC-4734-883B-ECFAED71D0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16E2A0-97A2-4D7F-A92E-19B30B9A3E3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font" Target="fonts/font18.fntdata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font" Target="fonts/font17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29" Type="http://schemas.openxmlformats.org/officeDocument/2006/relationships/font" Target="fonts/font2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font" Target="fonts/font20.fntdata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font" Target="fonts/font19.fntdata"/><Relationship Id="rId30" Type="http://schemas.openxmlformats.org/officeDocument/2006/relationships/font" Target="fonts/font22.fntdata"/><Relationship Id="rId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1258269c9b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1258269c9b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509150" y="1010025"/>
            <a:ext cx="6125700" cy="207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310950" y="3750175"/>
            <a:ext cx="2522100" cy="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1"/>
          </p:nvPr>
        </p:nvSpPr>
        <p:spPr>
          <a:xfrm>
            <a:off x="4646725" y="2726550"/>
            <a:ext cx="27483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2"/>
          </p:nvPr>
        </p:nvSpPr>
        <p:spPr>
          <a:xfrm>
            <a:off x="720000" y="2726557"/>
            <a:ext cx="27483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3"/>
          </p:nvPr>
        </p:nvSpPr>
        <p:spPr>
          <a:xfrm>
            <a:off x="720000" y="2236104"/>
            <a:ext cx="2748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4"/>
          </p:nvPr>
        </p:nvSpPr>
        <p:spPr>
          <a:xfrm>
            <a:off x="4646725" y="2236104"/>
            <a:ext cx="2748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2167150" y="1307100"/>
            <a:ext cx="48096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201813" y="1584874"/>
            <a:ext cx="47403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201888" y="2427926"/>
            <a:ext cx="4740300" cy="11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>
            <a:spLocks noGrp="1"/>
          </p:cNvSpPr>
          <p:nvPr>
            <p:ph type="pic" idx="2"/>
          </p:nvPr>
        </p:nvSpPr>
        <p:spPr>
          <a:xfrm>
            <a:off x="-6875" y="0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720000" y="403800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 Vietnam Pro Medium"/>
              <a:buNone/>
              <a:defRPr sz="30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 Medium"/>
              <a:buNone/>
              <a:defRPr sz="3500">
                <a:solidFill>
                  <a:schemeClr val="dk1"/>
                </a:solidFill>
                <a:latin typeface="Be Vietnam Pro Medium"/>
                <a:ea typeface="Be Vietnam Pro Medium"/>
                <a:cs typeface="Be Vietnam Pro Medium"/>
                <a:sym typeface="Be Vietnam Pr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●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○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■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●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○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■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●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○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ague Spartan"/>
              <a:buChar char="■"/>
              <a:defRPr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6" r:id="rId5"/>
    <p:sldLayoutId id="2147483674" r:id="rId6"/>
    <p:sldLayoutId id="214748367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7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490" y="893135"/>
            <a:ext cx="3293482" cy="3259175"/>
          </a:xfrm>
          <a:prstGeom prst="ellipse">
            <a:avLst/>
          </a:prstGeom>
          <a:ln w="63500" cap="rnd">
            <a:solidFill>
              <a:schemeClr val="tx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921482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3"/>
          <p:cNvSpPr txBox="1">
            <a:spLocks noGrp="1"/>
          </p:cNvSpPr>
          <p:nvPr>
            <p:ph type="ctrTitle"/>
          </p:nvPr>
        </p:nvSpPr>
        <p:spPr>
          <a:xfrm>
            <a:off x="1565857" y="1414062"/>
            <a:ext cx="6125700" cy="207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dirty="0"/>
              <a:t>Oh My Node</a:t>
            </a:r>
            <a:endParaRPr sz="6700" b="1" dirty="0"/>
          </a:p>
          <a:p>
            <a:pPr lvl="0"/>
            <a:r>
              <a:rPr lang="en" sz="6700" dirty="0"/>
              <a:t> </a:t>
            </a:r>
            <a:r>
              <a:rPr lang="en" sz="1800" dirty="0">
                <a:latin typeface="Be Vietnam Pro Thin"/>
                <a:ea typeface="Be Vietnam Pro Thin"/>
                <a:cs typeface="Be Vietnam Pro Thin"/>
                <a:sym typeface="Be Vietnam Pro Thin"/>
              </a:rPr>
              <a:t>-</a:t>
            </a:r>
            <a:r>
              <a:rPr lang="en-US" sz="1800" dirty="0">
                <a:latin typeface="Be Vietnam Pro Thin"/>
                <a:ea typeface="Be Vietnam Pro Thin"/>
                <a:cs typeface="Be Vietnam Pro Thin"/>
                <a:sym typeface="Be Vietnam Pro Thin"/>
              </a:rPr>
              <a:t>9-grade-html-css-js-project</a:t>
            </a:r>
            <a:r>
              <a:rPr lang="en" sz="1800" dirty="0">
                <a:latin typeface="Be Vietnam Pro Thin"/>
                <a:ea typeface="Be Vietnam Pro Thin"/>
                <a:cs typeface="Be Vietnam Pro Thin"/>
                <a:sym typeface="Be Vietnam Pro Thin"/>
              </a:rPr>
              <a:t>-</a:t>
            </a:r>
            <a:endParaRPr sz="1800" dirty="0">
              <a:latin typeface="Be Vietnam Pro Thin"/>
              <a:ea typeface="Be Vietnam Pro Thin"/>
              <a:cs typeface="Be Vietnam Pro Thin"/>
              <a:sym typeface="Be Vietnam Pro Thin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779939" flipV="1">
            <a:off x="8604099" y="19390"/>
            <a:ext cx="540593" cy="534586"/>
          </a:xfrm>
          <a:prstGeom prst="ellipse">
            <a:avLst/>
          </a:prstGeom>
          <a:ln w="6350" cap="rnd">
            <a:solidFill>
              <a:schemeClr val="tx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902" y="1936841"/>
            <a:ext cx="1702096" cy="17774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78419" y="928578"/>
            <a:ext cx="53091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800" dirty="0" smtClean="0">
                <a:solidFill>
                  <a:schemeClr val="tx1"/>
                </a:solidFill>
                <a:latin typeface="+mn-lt"/>
              </a:rPr>
              <a:t>Нашият Отбор</a:t>
            </a:r>
            <a:endParaRPr lang="bg-BG" sz="48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22930" y="1936842"/>
            <a:ext cx="1777407" cy="1777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39231" y="3891517"/>
            <a:ext cx="17153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i="1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Денислав Димов</a:t>
            </a:r>
            <a:endParaRPr lang="bg-BG" b="1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71306" y="3870251"/>
            <a:ext cx="1601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i="1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Георги Георгиев</a:t>
            </a:r>
            <a:endParaRPr lang="bg-BG" b="1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B8F025-1573-AEA1-CDD2-A50A87FBE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686674" flipV="1">
            <a:off x="54459" y="112239"/>
            <a:ext cx="540593" cy="534586"/>
          </a:xfrm>
          <a:prstGeom prst="ellipse">
            <a:avLst/>
          </a:prstGeom>
          <a:ln w="6350" cap="rnd">
            <a:solidFill>
              <a:schemeClr val="tx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8165920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8"/>
          <p:cNvSpPr txBox="1">
            <a:spLocks noGrp="1"/>
          </p:cNvSpPr>
          <p:nvPr>
            <p:ph type="title"/>
          </p:nvPr>
        </p:nvSpPr>
        <p:spPr>
          <a:xfrm>
            <a:off x="2017172" y="686027"/>
            <a:ext cx="5184614" cy="10222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4800" dirty="0" smtClean="0">
                <a:latin typeface="+mj-lt"/>
              </a:rPr>
              <a:t>Нашата Цел</a:t>
            </a:r>
            <a:endParaRPr sz="4800" dirty="0">
              <a:latin typeface="+mj-lt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7330" y="1516914"/>
            <a:ext cx="4309731" cy="31826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Нашата мисия е да направим академичния напредък видим, приложим и мотивиращ. Таблото за напредък на студентите обединява оценки, присъствие, задания и постижения в една унифицирана платформа </a:t>
            </a:r>
            <a:r>
              <a:rPr lang="en-US" dirty="0" smtClean="0">
                <a:solidFill>
                  <a:schemeClr val="tx1"/>
                </a:solidFill>
              </a:rPr>
              <a:t>-</a:t>
            </a:r>
            <a:r>
              <a:rPr lang="ru-RU" dirty="0" smtClean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премахвайки несигурността и давайки </a:t>
            </a:r>
            <a:r>
              <a:rPr lang="ru-RU" dirty="0" smtClean="0">
                <a:solidFill>
                  <a:schemeClr val="tx1"/>
                </a:solidFill>
              </a:rPr>
              <a:t>на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bg-BG" dirty="0" smtClean="0">
                <a:solidFill>
                  <a:schemeClr val="tx1"/>
                </a:solidFill>
              </a:rPr>
              <a:t>учениците</a:t>
            </a:r>
            <a:r>
              <a:rPr lang="ru-RU" dirty="0" smtClean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ясна картина в реално време за това къде се намират. Вярваме, че когато студентите имат достъп до правилната информация в точното време, те са по-добре подготвени да вземат решения, да останат организирани и да достигнат пълния си потенциал. Нашата цел е да запълним пропастта между суровите академични данни и значимото личностно израстване.</a:t>
            </a:r>
            <a:endParaRPr lang="bg-BG" dirty="0">
              <a:solidFill>
                <a:schemeClr val="tx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0977" y="1847021"/>
            <a:ext cx="3852934" cy="2143734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738D65-8EFA-C6BB-721F-1CC06A25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086974" flipV="1">
            <a:off x="46841" y="4583769"/>
            <a:ext cx="540593" cy="534586"/>
          </a:xfrm>
          <a:prstGeom prst="ellipse">
            <a:avLst/>
          </a:prstGeom>
          <a:ln w="6350" cap="rnd">
            <a:solidFill>
              <a:schemeClr val="tx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06772" y="673396"/>
            <a:ext cx="51036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800" dirty="0" smtClean="0">
                <a:solidFill>
                  <a:schemeClr val="tx1"/>
                </a:solidFill>
                <a:latin typeface="+mj-lt"/>
              </a:rPr>
              <a:t>Технологии</a:t>
            </a:r>
            <a:endParaRPr lang="bg-BG" sz="48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511" y="1787711"/>
            <a:ext cx="1005574" cy="89480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8483" y="1780621"/>
            <a:ext cx="928577" cy="92857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8823" y="3006910"/>
            <a:ext cx="900591" cy="94984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250" y="1638852"/>
            <a:ext cx="1220530" cy="122053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513" y="3006910"/>
            <a:ext cx="1028095" cy="10136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334" y="1891493"/>
            <a:ext cx="1377570" cy="84268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342" y="2950203"/>
            <a:ext cx="1060704" cy="1063256"/>
          </a:xfrm>
          <a:prstGeom prst="rect">
            <a:avLst/>
          </a:prstGeom>
        </p:spPr>
      </p:pic>
      <p:pic>
        <p:nvPicPr>
          <p:cNvPr id="1032" name="Picture 8" descr="framer-motion - Codesandbox">
            <a:extLst>
              <a:ext uri="{FF2B5EF4-FFF2-40B4-BE49-F238E27FC236}">
                <a16:creationId xmlns:a16="http://schemas.microsoft.com/office/drawing/2014/main" id="{2035E3C8-95E3-848F-292C-8BF27CFD4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7881" y="3161197"/>
            <a:ext cx="1333089" cy="128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F03BC3F-04E9-5D2F-1EEC-6A036055218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8144372" flipV="1">
            <a:off x="8588862" y="4561622"/>
            <a:ext cx="540593" cy="534586"/>
          </a:xfrm>
          <a:prstGeom prst="ellipse">
            <a:avLst/>
          </a:prstGeom>
          <a:ln w="6350" cap="rnd">
            <a:solidFill>
              <a:schemeClr val="tx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137960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6810" y="1672855"/>
            <a:ext cx="76837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800" b="1" i="1" dirty="0" smtClean="0">
                <a:solidFill>
                  <a:schemeClr val="tx1"/>
                </a:solidFill>
                <a:latin typeface="+mj-lt"/>
              </a:rPr>
              <a:t>Нека да преминем към демонстрацията</a:t>
            </a:r>
            <a:endParaRPr lang="bg-BG" sz="4800" b="1" i="1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630D68-B27C-7CF0-56E6-9F641E9B3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4059053" y="3383928"/>
            <a:ext cx="1040072" cy="1028515"/>
          </a:xfrm>
          <a:prstGeom prst="ellipse">
            <a:avLst/>
          </a:prstGeom>
          <a:ln w="6350" cap="rnd">
            <a:solidFill>
              <a:schemeClr val="tx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629701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araphilia Case Study by Slidesgo">
  <a:themeElements>
    <a:clrScheme name="Simple Light">
      <a:dk1>
        <a:srgbClr val="FFFFFF"/>
      </a:dk1>
      <a:lt1>
        <a:srgbClr val="000000"/>
      </a:lt1>
      <a:dk2>
        <a:srgbClr val="A80000"/>
      </a:dk2>
      <a:lt2>
        <a:srgbClr val="C90000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116</Words>
  <Application>Microsoft Office PowerPoint</Application>
  <PresentationFormat>On-screen Show (16:9)</PresentationFormat>
  <Paragraphs>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League Spartan</vt:lpstr>
      <vt:lpstr>Be Vietnam Pro Thin</vt:lpstr>
      <vt:lpstr>Raleway</vt:lpstr>
      <vt:lpstr>Be Vietnam Pro</vt:lpstr>
      <vt:lpstr>Be Vietnam Pro Medium</vt:lpstr>
      <vt:lpstr>Calibri</vt:lpstr>
      <vt:lpstr>Arial</vt:lpstr>
      <vt:lpstr>Paraphilia Case Study by Slidesgo</vt:lpstr>
      <vt:lpstr>PowerPoint Presentation</vt:lpstr>
      <vt:lpstr>Oh My Node  -9-grade-html-css-js-project-</vt:lpstr>
      <vt:lpstr>PowerPoint Presentation</vt:lpstr>
      <vt:lpstr>Нашата Цел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Georgi Georgiev</dc:creator>
  <cp:lastModifiedBy>Georgi Georgiev</cp:lastModifiedBy>
  <cp:revision>17</cp:revision>
  <dcterms:modified xsi:type="dcterms:W3CDTF">2026-04-05T07:33:48Z</dcterms:modified>
</cp:coreProperties>
</file>